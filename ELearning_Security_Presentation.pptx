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03923" y="0"/>
            <a:ext cx="5485028" cy="6858000"/>
          </a:xfrm>
          <a:prstGeom prst="rect">
            <a:avLst/>
          </a:prstGeom>
          <a:solidFill>
            <a:srgbClr val="C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6952" y="-914400"/>
            <a:ext cx="5486400" cy="5486400"/>
          </a:xfrm>
          <a:prstGeom prst="ellipse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3840480" cy="347472"/>
          </a:xfrm>
          <a:prstGeom prst="rect">
            <a:avLst/>
          </a:prstGeom>
          <a:solidFill>
            <a:srgbClr val="D0ECFF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4241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alibri"/>
              </a:rPr>
              <a:t>🛡  ĐỒ ÁN TỐT NGHIỆP  ·  BẢO VỆ HỘI ĐỒNG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858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2137"/>
                </a:solidFill>
                <a:latin typeface="Calibri"/>
              </a:rPr>
              <a:t>Giải pháp Bảo đảm</a:t>
            </a:r>
          </a:p>
          <a:p>
            <a:pPr algn="l"/>
            <a:r>
              <a:rPr sz="3800" b="1">
                <a:solidFill>
                  <a:srgbClr val="0077B6"/>
                </a:solidFill>
                <a:latin typeface="Calibri"/>
              </a:rPr>
              <a:t>An ninh Thông tin</a:t>
            </a:r>
          </a:p>
          <a:p>
            <a:pPr algn="l"/>
            <a:r>
              <a:rPr sz="3200" b="1">
                <a:solidFill>
                  <a:srgbClr val="0D2137"/>
                </a:solidFill>
                <a:latin typeface="Calibri"/>
              </a:rPr>
              <a:t>cho Hệ thống E-learning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C5282"/>
                </a:solidFill>
                <a:latin typeface="Calibri"/>
              </a:rPr>
              <a:t>Information Security Solution for E-learning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80560"/>
            <a:ext cx="914400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👤  Sinh viên: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282"/>
                </a:solidFill>
                <a:latin typeface="Calibri"/>
              </a:rPr>
              <a:t>[Họ và Tên Sinh Viên]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92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🎓  GVHD: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992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282"/>
                </a:solidFill>
                <a:latin typeface="Calibri"/>
              </a:rPr>
              <a:t>[Tên Giảng Viên Hướng Dẫn]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21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🏛   Khoa: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321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282"/>
                </a:solidFill>
                <a:latin typeface="Calibri"/>
              </a:rPr>
              <a:t>Công nghệ Thông tin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50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📅  Năm học: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6509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282"/>
                </a:solidFill>
                <a:latin typeface="Calibri"/>
              </a:rPr>
              <a:t>2024 –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828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0" i="0">
                <a:solidFill>
                  <a:srgbClr val="B8D8ED"/>
                </a:solidFill>
                <a:latin typeface="Calibri"/>
              </a:rPr>
              <a:t>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731520"/>
            <a:ext cx="4114800" cy="4114800"/>
          </a:xfrm>
          <a:prstGeom prst="ellipse">
            <a:avLst/>
          </a:prstGeom>
          <a:solidFill>
            <a:srgbClr val="C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3200400" cy="3200400"/>
          </a:xfrm>
          <a:prstGeom prst="ellipse">
            <a:avLst/>
          </a:prstGeom>
          <a:solidFill>
            <a:srgbClr val="D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alibri"/>
              </a:rPr>
              <a:t>  📋  AGENDA  –  NỘI DUNG TRÌNH BÀY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D2137"/>
                </a:solidFill>
                <a:latin typeface="Calibri"/>
              </a:rPr>
              <a:t>Nội dung Trình bày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C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66928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45920"/>
            <a:ext cx="475488" cy="47548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6420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52704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Vấn đề &amp; Động lực nghiên cứu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19659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7B6"/>
                </a:solidFill>
                <a:latin typeface="Calibri"/>
              </a:rPr>
              <a:t>⏱  ~1 phút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566928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645920"/>
            <a:ext cx="475488" cy="47548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6420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152704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Kiến trúc tổng thể hệ thống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9659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7B6"/>
                </a:solidFill>
                <a:latin typeface="Calibri"/>
              </a:rPr>
              <a:t>⏱  ~1 phút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43200"/>
            <a:ext cx="566928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063240"/>
            <a:ext cx="475488" cy="47548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08152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9443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Xác thực &amp; Quản lý phiên an toàn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33832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7B6"/>
                </a:solidFill>
                <a:latin typeface="Calibri"/>
              </a:rPr>
              <a:t>⏱  ~1.5 phút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743200"/>
            <a:ext cx="566928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3063240"/>
            <a:ext cx="475488" cy="47548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08152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9443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Chống gian lận thi cử (Anti-Cheat)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33832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7B6"/>
                </a:solidFill>
                <a:latin typeface="Calibri"/>
              </a:rPr>
              <a:t>⏱  ~1.5 phút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566928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480560"/>
            <a:ext cx="475488" cy="47548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49884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436168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An toàn file &amp; Bảo vệ bản quyền video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8" y="48006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7B6"/>
                </a:solidFill>
                <a:latin typeface="Calibri"/>
              </a:rPr>
              <a:t>⏱  ~1.5 phút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160520"/>
            <a:ext cx="566928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46520" y="4480560"/>
            <a:ext cx="475488" cy="47548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49884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436168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Nhật ký kiểm toán &amp; Demo hệ thống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48006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7B6"/>
                </a:solidFill>
                <a:latin typeface="Calibri"/>
              </a:rPr>
              <a:t>⏱  ~1.5 + 2 phút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7455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731520"/>
            <a:ext cx="4114800" cy="4114800"/>
          </a:xfrm>
          <a:prstGeom prst="ellipse">
            <a:avLst/>
          </a:prstGeom>
          <a:solidFill>
            <a:srgbClr val="C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3200400" cy="3200400"/>
          </a:xfrm>
          <a:prstGeom prst="ellipse">
            <a:avLst/>
          </a:prstGeom>
          <a:solidFill>
            <a:srgbClr val="D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alibri"/>
              </a:rPr>
              <a:t>  ⚠️  MOTIVATION  –  VẤN ĐỀ ĐẶT 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D2137"/>
                </a:solidFill>
                <a:latin typeface="Calibri"/>
              </a:rPr>
              <a:t>Tại sao cần bảo mật </a:t>
            </a:r>
            <a:r>
              <a:rPr sz="2600" b="1">
                <a:solidFill>
                  <a:srgbClr val="0077B6"/>
                </a:solidFill>
                <a:latin typeface="Calibri"/>
              </a:rPr>
              <a:t>E-learning?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C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560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7B6"/>
                </a:solidFill>
                <a:latin typeface="Calibri"/>
              </a:rPr>
              <a:t>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385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5282"/>
                </a:solidFill>
                <a:latin typeface="Calibri"/>
              </a:rPr>
              <a:t>Vi phạm bảo mật
tại các nền tảng LMS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371600"/>
            <a:ext cx="2560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4813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62828"/>
                </a:solidFill>
                <a:latin typeface="Calibri"/>
              </a:rPr>
              <a:t>↑3×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9385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5282"/>
                </a:solidFill>
                <a:latin typeface="Calibri"/>
              </a:rPr>
              <a:t>Tấn công mạng vào
Giáo dục từ 2020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5303520" cy="1691640"/>
          </a:xfrm>
          <a:prstGeom prst="rect">
            <a:avLst/>
          </a:prstGeom>
          <a:solidFill>
            <a:srgbClr val="FFEEEE"/>
          </a:solidFill>
          <a:ln w="635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560320"/>
            <a:ext cx="64008" cy="16916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65176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Calibri"/>
              </a:rPr>
              <a:t>🔴  Các mối đe dọa điển hình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90779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⚠  Gian lận thi trực tuyến – chuyển tab, copy đáp án, giả mạo thời gian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14553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⚠  Đánh cắp nội dung video – quay lén, tải không phép, chia sẻ trái phép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38328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⚠  Upload file độc hại – malware ẩn trong bài nộp của sinh viên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25880"/>
            <a:ext cx="5486400" cy="3017520"/>
          </a:xfrm>
          <a:prstGeom prst="rect">
            <a:avLst/>
          </a:prstGeom>
          <a:solidFill>
            <a:srgbClr val="E8F4FD"/>
          </a:solidFill>
          <a:ln w="635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25880"/>
            <a:ext cx="64008" cy="30175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41732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  <a:latin typeface="Calibri"/>
              </a:rPr>
              <a:t>🎯  Mục tiêu nghiên cứu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1673352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✔  Xây dựng hệ thống E-learning toàn diện với bảo mật đa lớp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911096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✔  Chống gian lận thi cử 100% Server-side – không thể bypass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148840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✔  Bảo vệ tài sản số: video DRM, quét virus, mã hóa lưu trữ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386584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✔  Nhật ký kiểm toán bất biến – chống chối bỏ (Non-repudiation)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solidFill>
            <a:srgbClr val="E8F8EE"/>
          </a:solidFill>
          <a:ln w="9525">
            <a:solidFill>
              <a:srgbClr val="1B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343400"/>
            <a:ext cx="64008" cy="457200"/>
          </a:xfrm>
          <a:prstGeom prst="rect">
            <a:avLst/>
          </a:prstGeom>
          <a:solidFill>
            <a:srgbClr val="1B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074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9E5E"/>
                </a:solidFill>
                <a:latin typeface="Calibri"/>
              </a:rPr>
              <a:t>⚙  Tech Stack:   ASP.NET Core 8  ·  JWT  ·  Redis  ·  ClamAV  ·  MinIO (S3)  ·  TOTP  ·  Argon2id  ·  HMAC-SHA256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7455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731520"/>
            <a:ext cx="4114800" cy="4114800"/>
          </a:xfrm>
          <a:prstGeom prst="ellipse">
            <a:avLst/>
          </a:prstGeom>
          <a:solidFill>
            <a:srgbClr val="C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3200400" cy="3200400"/>
          </a:xfrm>
          <a:prstGeom prst="ellipse">
            <a:avLst/>
          </a:prstGeom>
          <a:solidFill>
            <a:srgbClr val="D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alibri"/>
              </a:rPr>
              <a:t>  🏗  ARCHITECTURE  –  KIẾN TRÚC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D2137"/>
                </a:solidFill>
                <a:latin typeface="Calibri"/>
              </a:rPr>
              <a:t>Kiến trúc </a:t>
            </a:r>
            <a:r>
              <a:rPr sz="2600" b="1">
                <a:solidFill>
                  <a:srgbClr val="0077B6"/>
                </a:solidFill>
                <a:latin typeface="Calibri"/>
              </a:rPr>
              <a:t>Tổng thể Hệ thống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C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47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1188720" cy="47548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🖥  Client
(Browser)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20" y="1472184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7672" y="1508760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React / Next.js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472184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508760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Canvas Watermark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1472184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5192" y="1508760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Fullscreen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72184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508760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HTTPS / TLS 1.3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331720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77B6"/>
                </a:solidFill>
                <a:latin typeface="Calibri"/>
              </a:rPr>
              <a:t>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459736"/>
            <a:ext cx="1188720" cy="47548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5237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🔐  API
Gateway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20" y="2514600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47672" y="2551176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JWT Rotation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514600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2551176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Redis Blacklist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2514600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5192" y="2551176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2FA TOTP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514600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2551176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Rate Limiting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2514600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82712" y="2551176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Argon2id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37413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77B6"/>
                </a:solidFill>
                <a:latin typeface="Calibri"/>
              </a:rPr>
              <a:t>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3502152"/>
            <a:ext cx="1188720" cy="475488"/>
          </a:xfrm>
          <a:prstGeom prst="rect">
            <a:avLst/>
          </a:prstGeom>
          <a:solidFill>
            <a:srgbClr val="1B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566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⚙  Business
Logic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20" y="3557016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47672" y="3593592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Server-side Timer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3557016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56432" y="3593592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Heartbeat 30s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3557016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65192" y="3593592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ClamAV Scan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557016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3593592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Magic Bytes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09560" y="3557016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82712" y="3593592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Signed URL HMAC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416552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77B6"/>
                </a:solidFill>
                <a:latin typeface="Calibri"/>
              </a:rPr>
              <a:t>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544568"/>
            <a:ext cx="1188720" cy="475488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60857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🗄  Storage
&amp; Audit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20" y="4599432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47672" y="4636008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SQL Server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0" y="4599432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56432" y="4636008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Redis Cache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92040" y="4599432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65192" y="4636008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MinIO AES-256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599432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73952" y="4636008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Audit Log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09560" y="4599432"/>
            <a:ext cx="141732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82712" y="4636008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  <a:latin typeface="Calibri"/>
              </a:rPr>
              <a:t>HMAC Sign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27455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731520"/>
            <a:ext cx="4114800" cy="4114800"/>
          </a:xfrm>
          <a:prstGeom prst="ellipse">
            <a:avLst/>
          </a:prstGeom>
          <a:solidFill>
            <a:srgbClr val="C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3200400" cy="3200400"/>
          </a:xfrm>
          <a:prstGeom prst="ellipse">
            <a:avLst/>
          </a:prstGeom>
          <a:solidFill>
            <a:srgbClr val="D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alibri"/>
              </a:rPr>
              <a:t>  🔑  AUTH &amp; SESSION  –  XÁC THỰC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D2137"/>
                </a:solidFill>
                <a:latin typeface="Calibri"/>
              </a:rPr>
              <a:t>Xác thực &amp; Quản lý </a:t>
            </a:r>
            <a:r>
              <a:rPr sz="2600" b="1">
                <a:solidFill>
                  <a:srgbClr val="0077B6"/>
                </a:solidFill>
                <a:latin typeface="Calibri"/>
              </a:rPr>
              <a:t>Phiên An toàn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C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🔄  JWT Rotation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55648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810512"/>
            <a:ext cx="5157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3A5C"/>
                </a:solidFill>
                <a:latin typeface="Calibri"/>
              </a:rPr>
              <a:t>👤 Đăng nhập
Email + Password + 2FA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860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B6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14016"/>
            <a:ext cx="5303520" cy="566928"/>
          </a:xfrm>
          <a:prstGeom prst="rect">
            <a:avLst/>
          </a:prstGeom>
          <a:solidFill>
            <a:srgbClr val="0077B6"/>
          </a:solidFill>
          <a:ln w="9525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468880"/>
            <a:ext cx="5157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🔑 Access Token  (15 phút)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9443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B6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72384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127248"/>
            <a:ext cx="5157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3A5C"/>
                </a:solidFill>
                <a:latin typeface="Calibri"/>
              </a:rPr>
              <a:t>🔄 Refresh Token  (7 ngày)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60273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B6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30752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785616"/>
            <a:ext cx="5157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3A5C"/>
                </a:solidFill>
                <a:latin typeface="Calibri"/>
              </a:rPr>
              <a:t>📤 Client gửi Refresh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26110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B6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89120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4443984"/>
            <a:ext cx="5157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3A5C"/>
                </a:solidFill>
                <a:latin typeface="Calibri"/>
              </a:rPr>
              <a:t>🚫 Reuse Detection
Revoke ALL → Redis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9194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B6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47488"/>
            <a:ext cx="5303520" cy="566928"/>
          </a:xfrm>
          <a:prstGeom prst="rect">
            <a:avLst/>
          </a:prstGeom>
          <a:solidFill>
            <a:srgbClr val="0077B6"/>
          </a:solidFill>
          <a:ln w="9525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102352"/>
            <a:ext cx="5157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✅ Cấp cặp token mới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371600"/>
            <a:ext cx="5303520" cy="1298448"/>
          </a:xfrm>
          <a:prstGeom prst="rect">
            <a:avLst/>
          </a:prstGeom>
          <a:solidFill>
            <a:srgbClr val="E8F4FD"/>
          </a:solidFill>
          <a:ln w="63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371600"/>
            <a:ext cx="64008" cy="129844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142646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7B6"/>
                </a:solidFill>
                <a:latin typeface="Calibri"/>
              </a:rPr>
              <a:t>📱  Two-Factor Authentication (TOTP) – RFC 6238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65392" y="1773936"/>
            <a:ext cx="1188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8544" y="1828800"/>
            <a:ext cx="1042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3A5C"/>
                </a:solidFill>
                <a:latin typeface="Calibri"/>
              </a:rPr>
              <a:t>Quét QR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1847088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77B6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90688" y="1773936"/>
            <a:ext cx="1188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1828800"/>
            <a:ext cx="1042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3A5C"/>
                </a:solidFill>
                <a:latin typeface="Calibri"/>
              </a:rPr>
              <a:t>Authenticator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6256" y="1847088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77B6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15984" y="1773936"/>
            <a:ext cx="1188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1828800"/>
            <a:ext cx="1042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3A5C"/>
                </a:solidFill>
                <a:latin typeface="Calibri"/>
              </a:rPr>
              <a:t>OTP 6 chữ số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31552" y="1847088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77B6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41280" y="1773936"/>
            <a:ext cx="1188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14432" y="1828800"/>
            <a:ext cx="1042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3A5C"/>
                </a:solidFill>
                <a:latin typeface="Calibri"/>
              </a:rPr>
              <a:t>Verify HMAC-SHA1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788920"/>
            <a:ext cx="5303520" cy="1115568"/>
          </a:xfrm>
          <a:prstGeom prst="rect">
            <a:avLst/>
          </a:prstGeom>
          <a:solidFill>
            <a:srgbClr val="FFF0F0"/>
          </a:solidFill>
          <a:ln w="635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2788920"/>
            <a:ext cx="64008" cy="11155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288036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Calibri"/>
              </a:rPr>
              <a:t>🔒  Chống Brute-Force &amp; Mã hóa Mật khẩu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313639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🔴  Sai mật khẩu 5 lần liên tiếp → Tài khoản bị khóa tự động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337413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🔐  Argon2id – Memory-hard · Chống GPU/ASIC cracking · PHC Winner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005072"/>
            <a:ext cx="5303520" cy="685800"/>
          </a:xfrm>
          <a:prstGeom prst="rect">
            <a:avLst/>
          </a:prstGeom>
          <a:solidFill>
            <a:srgbClr val="E8F8EE"/>
          </a:solidFill>
          <a:ln w="6350">
            <a:solidFill>
              <a:srgbClr val="1B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005072"/>
            <a:ext cx="64008" cy="685800"/>
          </a:xfrm>
          <a:prstGeom prst="rect">
            <a:avLst/>
          </a:prstGeom>
          <a:solidFill>
            <a:srgbClr val="1B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65392" y="40965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9E5E"/>
                </a:solidFill>
                <a:latin typeface="Calibri"/>
              </a:rPr>
              <a:t>✔  Tuân thủ:  OWASP Top 10  ·  RFC 7519 (JWT)  ·  RFC 6238 (TOTP)  ·  PHC Argon2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27455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731520"/>
            <a:ext cx="4114800" cy="4114800"/>
          </a:xfrm>
          <a:prstGeom prst="ellipse">
            <a:avLst/>
          </a:prstGeom>
          <a:solidFill>
            <a:srgbClr val="C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3200400" cy="3200400"/>
          </a:xfrm>
          <a:prstGeom prst="ellipse">
            <a:avLst/>
          </a:prstGeom>
          <a:solidFill>
            <a:srgbClr val="D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alibri"/>
              </a:rPr>
              <a:t>  🕵  ANTI-CHEAT  –  CHỐNG GIAN LẬN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D2137"/>
                </a:solidFill>
                <a:latin typeface="Calibri"/>
              </a:rPr>
              <a:t>Chống Gian lận </a:t>
            </a:r>
            <a:r>
              <a:rPr sz="2600" b="1">
                <a:solidFill>
                  <a:srgbClr val="0077B6"/>
                </a:solidFill>
                <a:latin typeface="Calibri"/>
              </a:rPr>
              <a:t>Thi cử Trực tuyến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C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86400" cy="2103120"/>
          </a:xfrm>
          <a:prstGeom prst="rect">
            <a:avLst/>
          </a:prstGeom>
          <a:solidFill>
            <a:srgbClr val="E8F4FD"/>
          </a:solidFill>
          <a:ln w="635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64008" cy="21031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46304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  <a:latin typeface="Calibri"/>
              </a:rPr>
              <a:t>🖥  Server-side Controls  (Không thể bypass)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719072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⏱  Đồng hồ 100% Server-side – Client KHÔNG kiểm soát thời gian làm bài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956816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💓  Heartbeat mỗi 30 giây – Mất kết nối → Server biết ngay, tự xử lý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194560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🚨  Vi phạm ≥ 3 lần → Server tự động thu bài, không thể back hay làm lại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A5C"/>
                </a:solidFill>
                <a:latin typeface="Calibri"/>
              </a:rPr>
              <a:t>📊  Luồng xử lý vi phạm: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1188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8678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  <a:latin typeface="Calibri"/>
              </a:rPr>
              <a:t>Hành vi vi phạm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4050791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77B6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28216" y="3931920"/>
            <a:ext cx="1188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3936" y="398678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  <a:latin typeface="Calibri"/>
              </a:rPr>
              <a:t>Server ghi nhận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4050791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77B6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53512" y="3931920"/>
            <a:ext cx="1188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398678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  <a:latin typeface="Calibri"/>
              </a:rPr>
              <a:t>Đếm ≥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23944" y="4050791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77B6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8808" y="3931920"/>
            <a:ext cx="1188720" cy="502920"/>
          </a:xfrm>
          <a:prstGeom prst="rect">
            <a:avLst/>
          </a:prstGeom>
          <a:solidFill>
            <a:srgbClr val="FFEEEE"/>
          </a:solidFill>
          <a:ln w="952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398678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Calibri"/>
              </a:rPr>
              <a:t>Thu bài tự động 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371600"/>
            <a:ext cx="5486400" cy="2331720"/>
          </a:xfrm>
          <a:prstGeom prst="rect">
            <a:avLst/>
          </a:prstGeom>
          <a:solidFill>
            <a:srgbClr val="FFF8E1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371600"/>
            <a:ext cx="64008" cy="2331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144475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  <a:latin typeface="Calibri"/>
              </a:rPr>
              <a:t>🖥  Client-side Controls  (UX Enforcement)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512" y="1783080"/>
            <a:ext cx="2514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18745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2137"/>
                </a:solidFill>
                <a:latin typeface="Calibri"/>
              </a:rPr>
              <a:t>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21671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  <a:latin typeface="Calibri"/>
              </a:rPr>
              <a:t>Fullscreen bắt buộc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2404872"/>
            <a:ext cx="22860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Thoát fullscreen → cảnh báo ngay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88552" y="1783080"/>
            <a:ext cx="2514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5712" y="18745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2137"/>
                </a:solidFill>
                <a:latin typeface="Calibri"/>
              </a:rPr>
              <a:t>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21671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  <a:latin typeface="Calibri"/>
              </a:rPr>
              <a:t>Bắt sự kiện Tab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5712" y="2404872"/>
            <a:ext cx="22860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visibilitychange → ghi vi phạm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82512" y="2697480"/>
            <a:ext cx="2514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27889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2137"/>
                </a:solidFill>
                <a:latin typeface="Calibri"/>
              </a:rPr>
              <a:t>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672" y="30815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  <a:latin typeface="Calibri"/>
              </a:rPr>
              <a:t>Chặn Copy/Paste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3319272"/>
            <a:ext cx="22860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Tắt Ctrl+C, V · Chuột phải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88552" y="2697480"/>
            <a:ext cx="2514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25712" y="27889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2137"/>
                </a:solidFill>
                <a:latin typeface="Calibri"/>
              </a:rPr>
              <a:t>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25712" y="30815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  <a:latin typeface="Calibri"/>
              </a:rPr>
              <a:t>Chặn DevTools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5712" y="3319272"/>
            <a:ext cx="22860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F12 bị vô hiệu hóa khi thi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822191"/>
            <a:ext cx="5486400" cy="594360"/>
          </a:xfrm>
          <a:prstGeom prst="rect">
            <a:avLst/>
          </a:prstGeom>
          <a:solidFill>
            <a:srgbClr val="E8F8EE"/>
          </a:solidFill>
          <a:ln w="6350">
            <a:solidFill>
              <a:srgbClr val="1B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3822191"/>
            <a:ext cx="64008" cy="594360"/>
          </a:xfrm>
          <a:prstGeom prst="rect">
            <a:avLst/>
          </a:prstGeom>
          <a:solidFill>
            <a:srgbClr val="1B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82512" y="389534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9E5E"/>
                </a:solidFill>
                <a:latin typeface="Calibri"/>
              </a:rPr>
              <a:t>ℹ  Cơ chế kép: Client phát hiện vi phạm → gửi lên Server → Server phán quyết cuối cùng. Client KHÔNG thể tự xóa vi phạm.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27455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731520"/>
            <a:ext cx="4114800" cy="4114800"/>
          </a:xfrm>
          <a:prstGeom prst="ellipse">
            <a:avLst/>
          </a:prstGeom>
          <a:solidFill>
            <a:srgbClr val="C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3200400" cy="3200400"/>
          </a:xfrm>
          <a:prstGeom prst="ellipse">
            <a:avLst/>
          </a:prstGeom>
          <a:solidFill>
            <a:srgbClr val="D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alibri"/>
              </a:rPr>
              <a:t>  📁  FILE SECURITY  –  AN TOÀN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D2137"/>
                </a:solidFill>
                <a:latin typeface="Calibri"/>
              </a:rPr>
              <a:t>An toàn </a:t>
            </a:r>
            <a:r>
              <a:rPr sz="2600" b="1">
                <a:solidFill>
                  <a:srgbClr val="0077B6"/>
                </a:solidFill>
                <a:latin typeface="Calibri"/>
              </a:rPr>
              <a:t>Nộp Bài tập – Upload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C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53312"/>
            <a:ext cx="11247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A5C"/>
                </a:solidFill>
                <a:latin typeface="Calibri"/>
              </a:rPr>
              <a:t>🛡  Luồng xử lý file upload – Bảo vệ đa tầng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55648"/>
            <a:ext cx="1691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15453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3A5C"/>
                </a:solidFill>
                <a:latin typeface="Calibri"/>
              </a:rPr>
              <a:t>📂 File từ
sinh viên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011680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B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755648"/>
            <a:ext cx="1691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68296" y="1810512"/>
            <a:ext cx="15453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3A5C"/>
                </a:solidFill>
                <a:latin typeface="Calibri"/>
              </a:rPr>
              <a:t>🔍 Magic Bytes
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2011680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B6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1755648"/>
            <a:ext cx="1691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6512" y="1810512"/>
            <a:ext cx="15453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3A5C"/>
                </a:solidFill>
                <a:latin typeface="Calibri"/>
              </a:rPr>
              <a:t>🦠 ClamAV
Virus Scan (RAM)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2011680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B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51576" y="1755648"/>
            <a:ext cx="1691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4728" y="1810512"/>
            <a:ext cx="15453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3A5C"/>
                </a:solidFill>
                <a:latin typeface="Calibri"/>
              </a:rPr>
              <a:t>✅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2011680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B6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9792" y="1755648"/>
            <a:ext cx="1691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1810512"/>
            <a:ext cx="15453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3A5C"/>
                </a:solidFill>
                <a:latin typeface="Calibri"/>
              </a:rPr>
              <a:t>🔑 UUID Rename
+ MinIO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2011680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B6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08008" y="1755648"/>
            <a:ext cx="1691640" cy="822960"/>
          </a:xfrm>
          <a:prstGeom prst="rect">
            <a:avLst/>
          </a:prstGeom>
          <a:solidFill>
            <a:srgbClr val="0077B6"/>
          </a:solidFill>
          <a:ln w="9525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810512"/>
            <a:ext cx="15453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🔒 AES-256-CBC
Encrypted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26700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❌ Fail bất kỳ bước → Reject &amp; Từ chối ngay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670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9E5E"/>
                </a:solidFill>
                <a:latin typeface="Calibri"/>
              </a:rPr>
              <a:t>✅ Chỉ file sạch, hợp lệ mới được lưu vào storage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17520"/>
            <a:ext cx="35661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1089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2137"/>
                </a:solidFill>
                <a:latin typeface="Calibri"/>
              </a:rPr>
              <a:t>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4015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  <a:latin typeface="Calibri"/>
              </a:rPr>
              <a:t>Magic Bytes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639312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Không tin vào đuôi .pdf .docx
Đọc byte đầu tiên xác thực định dạng thực tế
EXE giả PDF bị phát hiện ngay lập tức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3017520"/>
            <a:ext cx="35661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31089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2137"/>
                </a:solidFill>
                <a:latin typeface="Calibri"/>
              </a:rPr>
              <a:t>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34015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  <a:latin typeface="Calibri"/>
              </a:rPr>
              <a:t>ClamAV – TCP Instream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3639312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Quét virus trực tiếp trên RAM
File không ghi ra đĩa trước khi quét
Zero disk-write trước khi xác nhận sạch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3017520"/>
            <a:ext cx="35661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31089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2137"/>
                </a:solidFill>
                <a:latin typeface="Calibri"/>
              </a:rPr>
              <a:t>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34015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  <a:latin typeface="Calibri"/>
              </a:rPr>
              <a:t>AES-256-CBC @ MinIO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3639312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File đổi tên UUID ngẫu nhiên
Mã hóa AES-256-CBC trước khi lưu
Rò rỉ storage ≠ lộ nội dung file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7455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731520"/>
            <a:ext cx="4114800" cy="4114800"/>
          </a:xfrm>
          <a:prstGeom prst="ellipse">
            <a:avLst/>
          </a:prstGeom>
          <a:solidFill>
            <a:srgbClr val="C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3200400" cy="3200400"/>
          </a:xfrm>
          <a:prstGeom prst="ellipse">
            <a:avLst/>
          </a:prstGeom>
          <a:solidFill>
            <a:srgbClr val="D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alibri"/>
              </a:rPr>
              <a:t>  🎬  DRM  –  BẢO VỆ BẢN QUYỀN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D2137"/>
                </a:solidFill>
                <a:latin typeface="Calibri"/>
              </a:rPr>
              <a:t>Bảo vệ Bản quyền </a:t>
            </a:r>
            <a:r>
              <a:rPr sz="2600" b="1">
                <a:solidFill>
                  <a:srgbClr val="0077B6"/>
                </a:solidFill>
                <a:latin typeface="Calibri"/>
              </a:rPr>
              <a:t>Nội dung Video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C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303520" cy="3566160"/>
          </a:xfrm>
          <a:prstGeom prst="rect">
            <a:avLst/>
          </a:prstGeom>
          <a:solidFill>
            <a:srgbClr val="E8F4FD"/>
          </a:solidFill>
          <a:ln w="635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64008" cy="35661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4630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  <a:latin typeface="Calibri"/>
              </a:rPr>
              <a:t>🔗  Signed URL  –  HMAC-SHA256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71907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1️⃣  Sinh viên yêu cầu xem video → Gửi JWT xác thực danh tính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95681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2️⃣  Server tạo Signed URL ký HMAC-SHA256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19456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       Gắn UserID + Timestamp vào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432304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3️⃣  URL có hiệu lực 4 giờ, hết hạn → yêu cầu lại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670048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       URL không thể chia sẻ cho người khác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90779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❌  URL của người khác dùng → 403 Forbidden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14553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       UserID trong URL ≠ người dùng hiện tại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5486400" cy="1920240"/>
          </a:xfrm>
          <a:prstGeom prst="rect">
            <a:avLst/>
          </a:prstGeom>
          <a:solidFill>
            <a:srgbClr val="FFF8E0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64008" cy="1920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44475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  <a:latin typeface="Calibri"/>
              </a:rPr>
              <a:t>🖼  Canvas Watermark Động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783080"/>
            <a:ext cx="5029200" cy="10515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99339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46688"/>
                </a:solidFill>
                <a:latin typeface="Calibri"/>
              </a:rPr>
              <a:t>NGUYEN VAN A · MSSV: 2021001 · NGUYEN VAN A · MSSV: 2021001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148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CCDD"/>
                </a:solidFill>
                <a:latin typeface="Calibri"/>
              </a:rPr>
              <a:t>▶  Video đang phát...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8803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Lớp Canvas phủ lên video · In chìm Tên + ID sinh viên · Góc –45°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46120"/>
            <a:ext cx="171907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3375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2137"/>
                </a:solidFill>
                <a:latin typeface="Calibri"/>
              </a:rPr>
              <a:t>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30168"/>
            <a:ext cx="1490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  <a:latin typeface="Calibri"/>
              </a:rPr>
              <a:t>Chặn Download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867912"/>
            <a:ext cx="1490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Tắt nút tải xuống HTML5 video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28431" y="3246120"/>
            <a:ext cx="171907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1" y="33375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2137"/>
                </a:solidFill>
                <a:latin typeface="Calibri"/>
              </a:rPr>
              <a:t>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1" y="3630168"/>
            <a:ext cx="1490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  <a:latin typeface="Calibri"/>
              </a:rPr>
              <a:t>Chặn PiP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1" y="3867912"/>
            <a:ext cx="1490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Vô hiệu Picture-in-Picture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9800" y="3246120"/>
            <a:ext cx="171907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33375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2137"/>
                </a:solidFill>
                <a:latin typeface="Calibri"/>
              </a:rPr>
              <a:t>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630168"/>
            <a:ext cx="1490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137"/>
                </a:solidFill>
                <a:latin typeface="Calibri"/>
              </a:rPr>
              <a:t>Quay lén = Trace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3867912"/>
            <a:ext cx="1490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Watermark lộ danh tính người vi phạm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7455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731520"/>
            <a:ext cx="4114800" cy="4114800"/>
          </a:xfrm>
          <a:prstGeom prst="ellipse">
            <a:avLst/>
          </a:prstGeom>
          <a:solidFill>
            <a:srgbClr val="C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3200400" cy="3200400"/>
          </a:xfrm>
          <a:prstGeom prst="ellipse">
            <a:avLst/>
          </a:prstGeom>
          <a:solidFill>
            <a:srgbClr val="D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alibri"/>
              </a:rPr>
              <a:t>  📜  AUDIT LOG  –  NHẬT KÝ KIỂM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D2137"/>
                </a:solidFill>
                <a:latin typeface="Calibri"/>
              </a:rPr>
              <a:t>Nhật ký Kiểm toán </a:t>
            </a:r>
            <a:r>
              <a:rPr sz="2600" b="1">
                <a:solidFill>
                  <a:srgbClr val="0077B6"/>
                </a:solidFill>
                <a:latin typeface="Calibri"/>
              </a:rPr>
              <a:t>Bất biến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C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303520" cy="2423160"/>
          </a:xfrm>
          <a:prstGeom prst="rect">
            <a:avLst/>
          </a:prstGeom>
          <a:solidFill>
            <a:srgbClr val="E8F4FD"/>
          </a:solidFill>
          <a:ln w="6350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64008" cy="24231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4630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  <a:latin typeface="Calibri"/>
              </a:rPr>
              <a:t>🗄  Cơ chế Immutable – Database 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71907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🔒  Chặn UPDATE / DELETE – Trigger ném exception ngay khi có lệnh sửa/xóa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95681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✍  Chỉ cho phép INSERT – Mọi hành động chỉ append thêm bản ghi mới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19456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🔐  Ký điện tử HMAC-SHA256 – Mỗi bản ghi có chữ ký riêng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432304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👁  Không ai thoát được – Kể cả DBA · Mọi thay đổi đều bị ghi lại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5303520" cy="685800"/>
          </a:xfrm>
          <a:prstGeom prst="rect">
            <a:avLst/>
          </a:prstGeom>
          <a:solidFill>
            <a:srgbClr val="E8F8EE"/>
          </a:solidFill>
          <a:ln w="6350">
            <a:solidFill>
              <a:srgbClr val="1B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64008" cy="685800"/>
          </a:xfrm>
          <a:prstGeom prst="rect">
            <a:avLst/>
          </a:prstGeom>
          <a:solidFill>
            <a:srgbClr val="1B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9E5E"/>
                </a:solidFill>
                <a:latin typeface="Calibri"/>
              </a:rPr>
              <a:t>⚖  Thỏa mãn Non-repudiation (Chống chối bỏ) theo ISO 27001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📋  Cấu trúc bản ghi Audit Log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17920" y="1737360"/>
          <a:ext cx="5486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828800"/>
              </a:tblGrid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Trường</a:t>
                      </a:r>
                    </a:p>
                  </a:txBody>
                  <a:tcPr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Mô tả</a:t>
                      </a:r>
                    </a:p>
                  </a:txBody>
                  <a:tcPr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Bảo vệ</a:t>
                      </a:r>
                    </a:p>
                  </a:txBody>
                  <a:tcPr>
                    <a:solidFill>
                      <a:srgbClr val="0077B6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EventId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UUID duy nhất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UserId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Ai thực hiện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FK – Immutable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Loại hành động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Immutable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Timestamp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Thời gian (UTC)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Immutable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Chi tiết thay đổi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Signature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HMAC-SHA256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D2137"/>
                          </a:solidFill>
                          <a:latin typeface="Calibri"/>
                        </a:rPr>
                        <a:t>Signed &amp; Verified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6217920" y="4462272"/>
            <a:ext cx="5486400" cy="548640"/>
          </a:xfrm>
          <a:prstGeom prst="rect">
            <a:avLst/>
          </a:prstGeom>
          <a:solidFill>
            <a:srgbClr val="E8F4FD"/>
          </a:solidFill>
          <a:ln w="63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5354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ourier New"/>
              </a:rPr>
              <a:t>Signature = HMAC_SHA256(EventId + UserId + Action + Timestamp + Payload, SECRET)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7455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731520"/>
            <a:ext cx="4114800" cy="4114800"/>
          </a:xfrm>
          <a:prstGeom prst="ellipse">
            <a:avLst/>
          </a:prstGeom>
          <a:solidFill>
            <a:srgbClr val="C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3200400" cy="3200400"/>
          </a:xfrm>
          <a:prstGeom prst="ellipse">
            <a:avLst/>
          </a:prstGeom>
          <a:solidFill>
            <a:srgbClr val="D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alibri"/>
              </a:rPr>
              <a:t>  🛡  SUMMARY  –  TỔNG HỢP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D2137"/>
                </a:solidFill>
                <a:latin typeface="Calibri"/>
              </a:rPr>
              <a:t>Tổng hợp – </a:t>
            </a:r>
            <a:r>
              <a:rPr sz="2600" b="1">
                <a:solidFill>
                  <a:srgbClr val="0077B6"/>
                </a:solidFill>
                <a:latin typeface="Calibri"/>
              </a:rPr>
              <a:t>5 Lớp Bảo mật Hệ thống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C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17904"/>
            <a:ext cx="475488" cy="47548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371600"/>
            <a:ext cx="987552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4630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🔑  Xác thực &amp; Quản lý phiên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9222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JWT Rotation · Redis Blacklist · 2FA TOTP · Argon2id · Chống Brute-Force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20" y="1600200"/>
            <a:ext cx="1188720" cy="292608"/>
          </a:xfrm>
          <a:prstGeom prst="rect">
            <a:avLst/>
          </a:prstGeom>
          <a:solidFill>
            <a:srgbClr val="E8F4FD"/>
          </a:solidFill>
          <a:ln w="9525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6184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7B6"/>
                </a:solidFill>
                <a:latin typeface="Calibri"/>
              </a:rPr>
              <a:t>✔ Triển khai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50008"/>
            <a:ext cx="475488" cy="47548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368296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203704"/>
            <a:ext cx="987552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29514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🕵  Chống gian lận thi cử (Anti-Cheat)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6243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Server-side Timer · Heartbeat 30s · Fullscreen · Tab Detection · Auto-submit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20" y="2432304"/>
            <a:ext cx="1188720" cy="292608"/>
          </a:xfrm>
          <a:prstGeom prst="rect">
            <a:avLst/>
          </a:prstGeom>
          <a:solidFill>
            <a:srgbClr val="E8F4FD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4505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A825"/>
                </a:solidFill>
                <a:latin typeface="Calibri"/>
              </a:rPr>
              <a:t>✔ Triển khai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82112"/>
            <a:ext cx="475488" cy="47548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3035808"/>
            <a:ext cx="987552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3127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📁  An toàn File Upload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4564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Magic Bytes · ClamAV RAM Scan · UUID Rename · AES-256-CBC @ MinIO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3264408"/>
            <a:ext cx="1188720" cy="292608"/>
          </a:xfrm>
          <a:prstGeom prst="rect">
            <a:avLst/>
          </a:prstGeom>
          <a:solidFill>
            <a:srgbClr val="E8F4FD"/>
          </a:solidFill>
          <a:ln w="952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328269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Calibri"/>
              </a:rPr>
              <a:t>✔ Triển khai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14216"/>
            <a:ext cx="475488" cy="475488"/>
          </a:xfrm>
          <a:prstGeom prst="rect">
            <a:avLst/>
          </a:prstGeom>
          <a:solidFill>
            <a:srgbClr val="1B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32504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3867912"/>
            <a:ext cx="987552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39593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🎬  Bảo vệ bản quyền Video (DRM)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28853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Signed URL HMAC-SHA256 (4h) · Canvas Watermark · Chặn Download/PiP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96512"/>
            <a:ext cx="1188720" cy="292608"/>
          </a:xfrm>
          <a:prstGeom prst="rect">
            <a:avLst/>
          </a:prstGeom>
          <a:solidFill>
            <a:srgbClr val="E8F4FD"/>
          </a:solidFill>
          <a:ln w="9525">
            <a:solidFill>
              <a:srgbClr val="1B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41148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9E5E"/>
                </a:solidFill>
                <a:latin typeface="Calibri"/>
              </a:rPr>
              <a:t>✔ Triển khai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46320"/>
            <a:ext cx="475488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6460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4700016"/>
            <a:ext cx="987552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4440" y="479145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📜  Nhật ký kiểm toán bất biến (Audit Log)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5120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5282"/>
                </a:solidFill>
                <a:latin typeface="Calibri"/>
              </a:rPr>
              <a:t>DB Trigger chặn UPDATE/DELETE · HMAC-SHA256 mỗi bản ghi · Non-repudiation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46920" y="4928616"/>
            <a:ext cx="1188720" cy="292608"/>
          </a:xfrm>
          <a:prstGeom prst="rect">
            <a:avLst/>
          </a:prstGeom>
          <a:solidFill>
            <a:srgbClr val="E8F4FD"/>
          </a:solidFill>
          <a:ln w="952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46920" y="494690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  <a:latin typeface="Calibri"/>
              </a:rPr>
              <a:t>✔ Triển khai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7455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731520"/>
            <a:ext cx="4114800" cy="4114800"/>
          </a:xfrm>
          <a:prstGeom prst="ellipse">
            <a:avLst/>
          </a:prstGeom>
          <a:solidFill>
            <a:srgbClr val="C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3200400" cy="3200400"/>
          </a:xfrm>
          <a:prstGeom prst="ellipse">
            <a:avLst/>
          </a:prstGeom>
          <a:solidFill>
            <a:srgbClr val="D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6"/>
                </a:solidFill>
                <a:latin typeface="Calibri"/>
              </a:rPr>
              <a:t>  ▶  LIVE DEMO  –  DEMO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D2137"/>
                </a:solidFill>
                <a:latin typeface="Calibri"/>
              </a:rPr>
              <a:t>Demo </a:t>
            </a:r>
            <a:r>
              <a:rPr sz="2600" b="1">
                <a:solidFill>
                  <a:srgbClr val="0077B6"/>
                </a:solidFill>
                <a:latin typeface="Calibri"/>
              </a:rPr>
              <a:t>Hệ thống Trực tiếp – 2 Phút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18288"/>
          </a:xfrm>
          <a:prstGeom prst="rect">
            <a:avLst/>
          </a:prstGeom>
          <a:solidFill>
            <a:srgbClr val="C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566928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01368"/>
            <a:ext cx="384048" cy="38404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1965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4813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137"/>
                </a:solidFill>
                <a:latin typeface="Calibri"/>
              </a:rPr>
              <a:t>Đăng nhập 2FA  (30 giây)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847088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Nhập email/password → Mở Authenticator → Nhập OTP 6 chữ số
→ Login thành công. Mở DevTools kiểm tra JWT trong Authorization Header.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89888"/>
            <a:ext cx="566928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801368"/>
            <a:ext cx="384048" cy="38404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1965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4813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137"/>
                </a:solidFill>
                <a:latin typeface="Calibri"/>
              </a:rPr>
              <a:t>Trigger Anti-Cheat  (45 giây)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1847088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Vào phòng thi → Chuyển Tab 3 lần → Server tự động thu bài
→ Kiểm tra bảng violation_log trong DB, xem đủ 3 lần vi phạm.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566928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282696"/>
            <a:ext cx="384048" cy="38404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30098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2962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137"/>
                </a:solidFill>
                <a:latin typeface="Calibri"/>
              </a:rPr>
              <a:t>Upload file virus  (20 giây)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328416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Upload file EICAR test → ClamAV phát hiện, từ chối ngay
→ Upload file PDF hợp lệ → Pass → Xem file được lưu UUID trong MinIO.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871216"/>
            <a:ext cx="566928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3282696"/>
            <a:ext cx="384048" cy="38404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30098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962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137"/>
                </a:solidFill>
                <a:latin typeface="Calibri"/>
              </a:rPr>
              <a:t>Video + Watermark  (20 giây)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3328416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Phát video → Thấy tên sinh viên in chìm góc –45°
→ Copy URL sang tab ẩn danh → 403 Forbidden (UserID không khớp).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52544"/>
            <a:ext cx="566928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764024"/>
            <a:ext cx="384048" cy="38404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7823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443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137"/>
                </a:solidFill>
                <a:latin typeface="Calibri"/>
              </a:rPr>
              <a:t>Audit Log bất biến  (25 giây)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809744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5282"/>
                </a:solidFill>
                <a:latin typeface="Calibri"/>
              </a:rPr>
              <a:t>Vào Admin → Xem bảng audit_log đầy đủ
→ Thử chạy DELETE trong DB Client → Trigger ném exception ngay lập tức.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62272"/>
            <a:ext cx="11247120" cy="457200"/>
          </a:xfrm>
          <a:prstGeom prst="rect">
            <a:avLst/>
          </a:prstGeom>
          <a:solidFill>
            <a:srgbClr val="E8F8EE"/>
          </a:solidFill>
          <a:ln w="6350">
            <a:solidFill>
              <a:srgbClr val="1B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462272"/>
            <a:ext cx="64008" cy="457200"/>
          </a:xfrm>
          <a:prstGeom prst="rect">
            <a:avLst/>
          </a:prstGeom>
          <a:solidFill>
            <a:srgbClr val="1B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5445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9E5E"/>
                </a:solidFill>
                <a:latin typeface="Calibri"/>
              </a:rPr>
              <a:t>⏱  Tổng ~2 phút. Chuẩn bị sẵn: Hệ thống chạy · DB Client · Postman · Authenticator App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7455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C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114800"/>
            <a:ext cx="3657600" cy="3657600"/>
          </a:xfrm>
          <a:prstGeom prst="ellipse">
            <a:avLst/>
          </a:prstGeom>
          <a:solidFill>
            <a:srgbClr val="B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64008" cy="56692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137"/>
                </a:solidFill>
                <a:latin typeface="Calibri"/>
              </a:rPr>
              <a:t>🛡  Hệ thống được bảo vệ bởi 5 lớp bảo mật độc lập – không có điểm lỗi đơn (No Single Point of Failure).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5669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642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137"/>
                </a:solidFill>
                <a:latin typeface="Calibri"/>
              </a:rPr>
              <a:t>🏆  Ứng dụng các chuẩn công nghệ hiện đại: Argon2id, JWT RFC 7519, TOTP RFC 6238, AES-256, HMAC-SHA256.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31136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31136"/>
            <a:ext cx="64008" cy="566928"/>
          </a:xfrm>
          <a:prstGeom prst="rect">
            <a:avLst/>
          </a:prstGeom>
          <a:solidFill>
            <a:srgbClr val="1B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22576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137"/>
                </a:solidFill>
                <a:latin typeface="Calibri"/>
              </a:rPr>
              <a:t>✅  Đáp ứng đầy đủ OWASP Top 10, hướng tới chuẩn ISO/IEC 27001 về quản lý an toàn thông tin.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980944"/>
            <a:ext cx="1554480" cy="54864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D2137"/>
                </a:solidFill>
                <a:latin typeface="Calibri"/>
              </a:rPr>
              <a:t>Xin Cảm ơn!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69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2C5282"/>
                </a:solidFill>
                <a:latin typeface="Calibri"/>
              </a:rPr>
              <a:t>Kính mời Hội đồng đặt câu hỏi  –  Q &amp; A 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663440"/>
            <a:ext cx="3017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727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5C"/>
                </a:solidFill>
                <a:latin typeface="Calibri"/>
              </a:rPr>
              <a:t>👤  [Họ và Tên Sinh Viên]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4663440"/>
            <a:ext cx="3017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4727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5C"/>
                </a:solidFill>
                <a:latin typeface="Calibri"/>
              </a:rPr>
              <a:t>🎓  MSSV: [2021XXXX]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663440"/>
            <a:ext cx="3017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727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5C"/>
                </a:solidFill>
                <a:latin typeface="Calibri"/>
              </a:rPr>
              <a:t>✉  [email@student.edu.vn]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7455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